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65" r:id="rId9"/>
    <p:sldId id="266" r:id="rId10"/>
    <p:sldId id="261" r:id="rId11"/>
    <p:sldId id="262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77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01168" cy="201168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1143000"/>
            <a:ext cx="201168" cy="201168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822960"/>
            <a:ext cx="201168" cy="201168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1143000"/>
            <a:ext cx="201168" cy="201168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822960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8979408" y="1051560"/>
            <a:ext cx="548640" cy="0"/>
          </a:xfrm>
          <a:prstGeom prst="line">
            <a:avLst/>
          </a:prstGeom>
          <a:noFill/>
          <a:ln w="1905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19488" y="777240"/>
            <a:ext cx="548640" cy="182880"/>
          </a:xfrm>
          <a:prstGeom prst="line">
            <a:avLst/>
          </a:prstGeom>
          <a:noFill/>
          <a:ln w="1905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59568" y="1051560"/>
            <a:ext cx="548640" cy="0"/>
          </a:xfrm>
          <a:prstGeom prst="line">
            <a:avLst/>
          </a:prstGeom>
          <a:noFill/>
          <a:ln w="1905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99648" y="777240"/>
            <a:ext cx="548640" cy="182880"/>
          </a:xfrm>
          <a:prstGeom prst="line">
            <a:avLst/>
          </a:prstGeom>
          <a:noFill/>
          <a:ln w="1905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28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誤情報の直線的伝搬モデル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伝言ゲーム型の情報伝達と誤差の蓄積について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329184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80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0876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デマ・誤情報拡散の検討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背景：情報拡散には2つの見方がある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右の図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ではネットワーク型の拡散図を描いたが、今回は「直線的な伝搬」に着目する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2F4FA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402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148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ネットワーク型拡散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14400" y="28803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多数のノードが相互に接続し、複数経路で同時に拡散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SNS・ネット上の情報拡散に近い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誰が誰に伝えたかの追跡が難しい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188720" y="4754880"/>
            <a:ext cx="201168" cy="20116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" name="Shape 7"/>
          <p:cNvSpPr/>
          <p:nvPr/>
        </p:nvSpPr>
        <p:spPr>
          <a:xfrm>
            <a:off x="2194560" y="4389120"/>
            <a:ext cx="201168" cy="20116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Shape 8"/>
          <p:cNvSpPr/>
          <p:nvPr/>
        </p:nvSpPr>
        <p:spPr>
          <a:xfrm>
            <a:off x="3017520" y="4846320"/>
            <a:ext cx="201168" cy="20116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Shape 9"/>
          <p:cNvSpPr/>
          <p:nvPr/>
        </p:nvSpPr>
        <p:spPr>
          <a:xfrm>
            <a:off x="2468880" y="5577840"/>
            <a:ext cx="201168" cy="20116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4" name="Shape 10"/>
          <p:cNvSpPr/>
          <p:nvPr/>
        </p:nvSpPr>
        <p:spPr>
          <a:xfrm>
            <a:off x="1463040" y="5486400"/>
            <a:ext cx="201168" cy="20116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5" name="Shape 11"/>
          <p:cNvSpPr/>
          <p:nvPr/>
        </p:nvSpPr>
        <p:spPr>
          <a:xfrm>
            <a:off x="3566160" y="5394960"/>
            <a:ext cx="201168" cy="20116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Shape 12"/>
          <p:cNvSpPr/>
          <p:nvPr/>
        </p:nvSpPr>
        <p:spPr>
          <a:xfrm>
            <a:off x="1289304" y="4489704"/>
            <a:ext cx="1005840" cy="365760"/>
          </a:xfrm>
          <a:prstGeom prst="line">
            <a:avLst/>
          </a:prstGeom>
          <a:noFill/>
          <a:ln w="15240">
            <a:solidFill>
              <a:srgbClr val="6B7280">
                <a:alpha val="7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295144" y="4489704"/>
            <a:ext cx="822960" cy="457200"/>
          </a:xfrm>
          <a:prstGeom prst="line">
            <a:avLst/>
          </a:prstGeom>
          <a:noFill/>
          <a:ln w="15240">
            <a:solidFill>
              <a:srgbClr val="6B7280">
                <a:alpha val="7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289304" y="4855464"/>
            <a:ext cx="274320" cy="731520"/>
          </a:xfrm>
          <a:prstGeom prst="line">
            <a:avLst/>
          </a:prstGeom>
          <a:noFill/>
          <a:ln w="15240">
            <a:solidFill>
              <a:srgbClr val="6B7280">
                <a:alpha val="7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295144" y="4489704"/>
            <a:ext cx="274320" cy="1188720"/>
          </a:xfrm>
          <a:prstGeom prst="line">
            <a:avLst/>
          </a:prstGeom>
          <a:noFill/>
          <a:ln w="15240">
            <a:solidFill>
              <a:srgbClr val="6B7280">
                <a:alpha val="7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563624" y="5586984"/>
            <a:ext cx="1005840" cy="91440"/>
          </a:xfrm>
          <a:prstGeom prst="line">
            <a:avLst/>
          </a:prstGeom>
          <a:noFill/>
          <a:ln w="15240">
            <a:solidFill>
              <a:srgbClr val="6B7280">
                <a:alpha val="7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118104" y="4946904"/>
            <a:ext cx="548640" cy="548640"/>
          </a:xfrm>
          <a:prstGeom prst="line">
            <a:avLst/>
          </a:prstGeom>
          <a:noFill/>
          <a:ln w="15240">
            <a:solidFill>
              <a:srgbClr val="6B7280">
                <a:alpha val="7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569464" y="4946904"/>
            <a:ext cx="548640" cy="731520"/>
          </a:xfrm>
          <a:prstGeom prst="line">
            <a:avLst/>
          </a:prstGeom>
          <a:noFill/>
          <a:ln w="15240">
            <a:solidFill>
              <a:srgbClr val="6B7280">
                <a:alpha val="70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537960" y="21488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24028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直線的伝搬（今回の焦点）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583680" y="288036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1人から次の1人へ一直線に伝わる（伝言ゲーム型）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各ステップで少しずつ内容が変化・劣化する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誤差の蓄積過程をシンプルにモデル化しやすい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858000" y="50292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4"/>
          <p:cNvSpPr/>
          <p:nvPr/>
        </p:nvSpPr>
        <p:spPr>
          <a:xfrm>
            <a:off x="7223760" y="5212080"/>
            <a:ext cx="640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863840" y="50292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6"/>
          <p:cNvSpPr/>
          <p:nvPr/>
        </p:nvSpPr>
        <p:spPr>
          <a:xfrm>
            <a:off x="8229600" y="5212080"/>
            <a:ext cx="640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869680" y="50292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28"/>
          <p:cNvSpPr/>
          <p:nvPr/>
        </p:nvSpPr>
        <p:spPr>
          <a:xfrm>
            <a:off x="9235440" y="5212080"/>
            <a:ext cx="640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875520" y="50292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0"/>
          <p:cNvSpPr/>
          <p:nvPr/>
        </p:nvSpPr>
        <p:spPr>
          <a:xfrm>
            <a:off x="10241280" y="5212080"/>
            <a:ext cx="640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0881360" y="50292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直線的伝搬モデルの概要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「伝言ゲーム」のように、情報が人から人へ一列に伝わっていく過程を考える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914400" cy="914400"/>
          </a:xfrm>
          <a:prstGeom prst="ellipse">
            <a:avLst/>
          </a:prstGeom>
          <a:solidFill>
            <a:srgbClr val="CADC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67004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1人目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2761488"/>
            <a:ext cx="365760" cy="365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697480" y="2468880"/>
            <a:ext cx="914400" cy="914400"/>
          </a:xfrm>
          <a:prstGeom prst="ellipse">
            <a:avLst/>
          </a:prstGeom>
          <a:solidFill>
            <a:srgbClr val="CADC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48" y="2670048"/>
            <a:ext cx="512064" cy="5120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2316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2人目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761488"/>
            <a:ext cx="365760" cy="36576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572000" y="2468880"/>
            <a:ext cx="914400" cy="914400"/>
          </a:xfrm>
          <a:prstGeom prst="ellipse">
            <a:avLst/>
          </a:prstGeom>
          <a:solidFill>
            <a:srgbClr val="CADC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670048"/>
            <a:ext cx="512064" cy="51206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9768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3人目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761488"/>
            <a:ext cx="365760" cy="36576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6446520" y="2468880"/>
            <a:ext cx="914400" cy="914400"/>
          </a:xfrm>
          <a:prstGeom prst="ellipse">
            <a:avLst/>
          </a:prstGeom>
          <a:solidFill>
            <a:srgbClr val="CADC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670048"/>
            <a:ext cx="512064" cy="51206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17220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4人目</a:t>
            </a:r>
            <a:endParaRPr lang="en-US" sz="12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761488"/>
            <a:ext cx="365760" cy="36576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8321040" y="2468880"/>
            <a:ext cx="914400" cy="914400"/>
          </a:xfrm>
          <a:prstGeom prst="ellipse">
            <a:avLst/>
          </a:prstGeom>
          <a:solidFill>
            <a:srgbClr val="CADC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670048"/>
            <a:ext cx="512064" cy="512064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804672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5人目</a:t>
            </a:r>
            <a:endParaRPr lang="en-US" sz="12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761488"/>
            <a:ext cx="365760" cy="365760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10195560" y="2468880"/>
            <a:ext cx="914400" cy="914400"/>
          </a:xfrm>
          <a:prstGeom prst="ellipse">
            <a:avLst/>
          </a:prstGeom>
          <a:solidFill>
            <a:srgbClr val="F96167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728" y="2670048"/>
            <a:ext cx="512064" cy="512064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992124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N人目</a:t>
            </a:r>
            <a:endParaRPr lang="en-US" sz="1200" dirty="0"/>
          </a:p>
        </p:txBody>
      </p:sp>
      <p:sp>
        <p:nvSpPr>
          <p:cNvPr id="27" name="Shape 14"/>
          <p:cNvSpPr/>
          <p:nvPr/>
        </p:nvSpPr>
        <p:spPr>
          <a:xfrm>
            <a:off x="548640" y="4023360"/>
            <a:ext cx="11064240" cy="155448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28" name="Text 15"/>
          <p:cNvSpPr/>
          <p:nvPr/>
        </p:nvSpPr>
        <p:spPr>
          <a:xfrm>
            <a:off x="914400" y="42519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各ステップ（人から人への伝達）で、一定の確率 </a:t>
            </a:r>
            <a:r>
              <a:rPr lang="en-US" sz="1500" b="1" i="1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5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（誤り率）で内容が変化・誤って伝わると仮定する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回の伝達を経た後、情報がどの程度「元の形」から変化しているかをモデル化する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数理モデル化：誤差の蓄積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2F4F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変数の定義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r：1回の伝達あたりの誤り率（0〜1）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N：伝達の回数（人数－1）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P(N)：N回後も正確に伝わっている確率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P(N)：誤差が蓄積している確率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1605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P(N) = (1 − r)</a:t>
            </a:r>
            <a:r>
              <a:rPr lang="en-US" sz="2400" b="1" baseline="30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48463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各ステップの誤りが独立に起こると仮定した単純なべき乗モデル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557784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800" dirty="0">
                <a:solidFill>
                  <a:schemeClr val="bg1"/>
                </a:solidFill>
              </a:rPr>
              <a:t>モデルデータ</a:t>
            </a:r>
            <a:endParaRPr 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322873"/>
              </p:ext>
            </p:extLst>
          </p:nvPr>
        </p:nvGraphicFramePr>
        <p:xfrm>
          <a:off x="6400800" y="2286000"/>
          <a:ext cx="4846320" cy="1737360"/>
        </p:xfrm>
        <a:graphic>
          <a:graphicData uri="http://schemas.openxmlformats.org/drawingml/2006/table">
            <a:tbl>
              <a:tblPr/>
              <a:tblGrid>
                <a:gridCol w="121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r（誤り率）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N = 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00800" y="2286000"/>
            <a:ext cx="484632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表：r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=0.1 P(N)</a:t>
            </a:r>
            <a:r>
              <a:rPr lang="ja-JP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の値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0" y="44805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r=10%でも10人経由で正確さは35%まで低下 → 人数が増えるほど急速に劣化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シミュレーション：誤り率と伝達回数の関係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誤り率 r ごとに、伝達回数 N が増えるにつれ正確に伝わる確率がどう低下するか</a:t>
            </a:r>
            <a:endParaRPr lang="en-US" sz="1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57D716E-CD90-A0D5-B2F7-E56D8BBC9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176" y="1554480"/>
            <a:ext cx="8272103" cy="51373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拡張モデル①：自己修復率を考慮したモデル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2F4F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変数の定義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r：1回の伝達あたりの誤り率（0〜1）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s：誤りが生じても自己修復される確率（0〜1）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N：伝達の回数（人数－1）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P(N)：N回後も正確に伝わっている確率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1605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P(N) = {(1−r) + r・s}</a:t>
            </a:r>
            <a:r>
              <a:rPr lang="en-US" sz="2400" b="1" baseline="30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48463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誤りが生じても確率 s で元の内容に修復されると仮定した拡張モデル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557784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800" dirty="0">
                <a:solidFill>
                  <a:schemeClr val="bg1"/>
                </a:solidFill>
              </a:rPr>
              <a:t>モデルデータ</a:t>
            </a:r>
            <a:endParaRPr 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322873"/>
              </p:ext>
            </p:extLst>
          </p:nvPr>
        </p:nvGraphicFramePr>
        <p:xfrm>
          <a:off x="6400800" y="2286000"/>
          <a:ext cx="4846320" cy="1737360"/>
        </p:xfrm>
        <a:graphic>
          <a:graphicData uri="http://schemas.openxmlformats.org/drawingml/2006/table">
            <a:tbl>
              <a:tblPr/>
              <a:tblGrid>
                <a:gridCol w="121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r=5%, s=90%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r=10%, s=80%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r=20%, s=70%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81.7%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00800" y="2286000"/>
            <a:ext cx="484632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表：自己修復モデル（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r・s</a:t>
            </a:r>
            <a:r>
              <a:rPr lang="ja-JP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別）の P(N)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0" y="44805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自己修復率 s が高いほど、誤り率 r が大きくても劣化は緩やかになる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シミュレーション：自己修復モデルの比較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誤り率 r と自己修復率 s の組み合わせによって、正確さの低下の仕方がどう変わるか</a:t>
            </a:r>
            <a:endParaRPr lang="en-US" sz="1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57D716E-CD90-A0D5-B2F7-E56D8BBC9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176" y="1554480"/>
            <a:ext cx="8272103" cy="51373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拡張モデル②：ベータ分布による誤り率の揺らぎ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2F4F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変数の定義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r：誤り率。一定値ではなくベータ分布 Beta(α, β) に従うと仮定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N：伝達の回数（人数－1）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P(N)：N回後も正確に伝わっている確率の期待値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α, β：分布の形状パラメータ（平均誤り率 = α/(α+β)）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1605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P(N) = B(α, β+N) / B(α, β)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48463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ベータ分布の共役性により、積分後も P(N) が閉じた式で求まる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557784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  <a:effectLst>
            <a:outerShdw blurRad="1270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800" dirty="0">
                <a:solidFill>
                  <a:schemeClr val="bg1"/>
                </a:solidFill>
              </a:rPr>
              <a:t>モデルデータ</a:t>
            </a:r>
            <a:endParaRPr 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322873"/>
              </p:ext>
            </p:extLst>
          </p:nvPr>
        </p:nvGraphicFramePr>
        <p:xfrm>
          <a:off x="6400800" y="2286000"/>
          <a:ext cx="4846320" cy="1790700"/>
        </p:xfrm>
        <a:graphic>
          <a:graphicData uri="http://schemas.openxmlformats.org/drawingml/2006/table">
            <a:tbl>
              <a:tblPr/>
              <a:tblGrid>
                <a:gridCol w="121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ベータ分布モデル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 r=20% モデル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+6.8pt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10.7%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+10.4pt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+7.7pt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00800" y="2286000"/>
            <a:ext cx="484632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表：平均誤り率20%（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α=2, β=8</a:t>
            </a:r>
            <a:r>
              <a:rPr lang="ja-JP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）における比較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0" y="44805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誤り率のばらつきを考慮すると、劣化は緩やかでも一部で誤りが残りやすくなる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シミュレーション：ベータ分布モデルの推移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誤り率のばらつきを考慮すると、正確さの低下は緩やかになりつつ裾が長く残る</a:t>
            </a:r>
            <a:endParaRPr lang="en-US" sz="1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57D716E-CD90-A0D5-B2F7-E56D8BBC9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852" y="1554480"/>
            <a:ext cx="7494296" cy="51373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論点・課題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2F4FA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86537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誤り率 r の数値化が困難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「文章のエラー」を0.1のような単一の数値に置き換えるのは実務上難しい。誤りの種類（要約・誇張・省略など）によって性質が異なる。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4630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2F4FA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7373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86537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5146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人が介在することの複雑さ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17720" y="333756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「間に人間が入る」ことで、単純な複製エラーではなく、解釈・意図的な言い換えが加わる。ネット上の機械的転送とは異なる。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38160" y="14630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2F4FA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12480" y="17373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186537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5146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生物学的アナロジーの限界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412480" y="333756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DNA複製エラーとの類似は直感的だが、情報伝達には「悪意」や「誇張のインセンティブ」など、生物学的モデルにはない要素がある。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まとめ・今後の検討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直線的伝搬（伝言ゲーム型）は P(N) = (1−r)^N というシンプルな式でモデル化できる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r（誤り率）の設定次第で、少ない伝達回数でも情報の正確さは急速に低下する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7490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自己修復率 s やベータ分布の揺らぎを導入すると、より現実的な劣化過程を表現できる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84632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8006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ネットワーク型拡散との組み合わせ（直線＋分岐）や、r・s の実測値推定が今後の課題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583</Words>
  <Application>Microsoft Office PowerPoint</Application>
  <PresentationFormat>ワイド画面</PresentationFormat>
  <Paragraphs>133</Paragraphs>
  <Slides>11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誤情報の直線的伝搬モデル</dc:title>
  <dc:subject>PptxGenJS Presentation</dc:subject>
  <dc:creator>Brainstorm R8.7.7</dc:creator>
  <cp:lastModifiedBy>貴久 山口</cp:lastModifiedBy>
  <cp:revision>5</cp:revision>
  <dcterms:created xsi:type="dcterms:W3CDTF">2026-07-07T08:06:35Z</dcterms:created>
  <dcterms:modified xsi:type="dcterms:W3CDTF">2026-07-10T05:22:41Z</dcterms:modified>
</cp:coreProperties>
</file>